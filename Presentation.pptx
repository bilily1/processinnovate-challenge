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75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H₂ (t)</c:v>
                </c:pt>
              </c:strCache>
            </c:strRef>
          </c:tx>
          <c:spPr>
            <a:solidFill>
              <a:srgbClr val="00C89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DEB-47D9-AD88-D150645F53B8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5DEB-47D9-AD88-D150645F53B8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5DEB-47D9-AD88-D150645F53B8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5DEB-47D9-AD88-D150645F53B8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5DEB-47D9-AD88-D150645F53B8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5DEB-47D9-AD88-D150645F53B8}"/>
              </c:ext>
            </c:extLst>
          </c:dPt>
          <c:dPt>
            <c:idx val="6"/>
            <c:invertIfNegative val="0"/>
            <c:bubble3D val="0"/>
            <c:spPr>
              <a:solidFill>
                <a:srgbClr val="F2A92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5DEB-47D9-AD88-D150645F53B8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F-5DEB-47D9-AD88-D150645F53B8}"/>
              </c:ext>
            </c:extLst>
          </c:dPt>
          <c:dPt>
            <c:idx val="8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1-5DEB-47D9-AD88-D150645F53B8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3-5DEB-47D9-AD88-D150645F53B8}"/>
              </c:ext>
            </c:extLst>
          </c:dPt>
          <c:dPt>
            <c:idx val="1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5-5DEB-47D9-AD88-D150645F53B8}"/>
              </c:ext>
            </c:extLst>
          </c:dPt>
          <c:dPt>
            <c:idx val="1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7-5DEB-47D9-AD88-D150645F53B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E8F0FE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Fév</c:v>
                </c:pt>
                <c:pt idx="2">
                  <c:v>Mar</c:v>
                </c:pt>
                <c:pt idx="3">
                  <c:v>Avr</c:v>
                </c:pt>
                <c:pt idx="4">
                  <c:v>Mai</c:v>
                </c:pt>
                <c:pt idx="5">
                  <c:v>Jun</c:v>
                </c:pt>
                <c:pt idx="6">
                  <c:v>Jul</c:v>
                </c:pt>
                <c:pt idx="7">
                  <c:v>Aoû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Déc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11.54</c:v>
                </c:pt>
                <c:pt idx="1">
                  <c:v>15.26</c:v>
                </c:pt>
                <c:pt idx="2">
                  <c:v>17.22</c:v>
                </c:pt>
                <c:pt idx="3">
                  <c:v>19.100000000000001</c:v>
                </c:pt>
                <c:pt idx="4">
                  <c:v>20.88</c:v>
                </c:pt>
                <c:pt idx="5">
                  <c:v>20.39</c:v>
                </c:pt>
                <c:pt idx="6">
                  <c:v>22.4</c:v>
                </c:pt>
                <c:pt idx="7">
                  <c:v>21.21</c:v>
                </c:pt>
                <c:pt idx="8">
                  <c:v>16.43</c:v>
                </c:pt>
                <c:pt idx="9">
                  <c:v>14.13</c:v>
                </c:pt>
                <c:pt idx="10">
                  <c:v>10.29</c:v>
                </c:pt>
                <c:pt idx="11">
                  <c:v>11.15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8-5DEB-47D9-AD88-D150645F53B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E7A99"/>
                </a:solidFill>
                <a:latin typeface="Arial"/>
              </a:defRPr>
            </a:pPr>
            <a:endParaRPr lang="fr-F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2E4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E7A99"/>
                </a:solidFill>
                <a:latin typeface="Arial"/>
              </a:defRPr>
            </a:pPr>
            <a:endParaRPr lang="fr-FR"/>
          </a:p>
        </c:txPr>
        <c:crossAx val="2094734554"/>
        <c:crosses val="autoZero"/>
        <c:crossBetween val="between"/>
      </c:valAx>
      <c:spPr>
        <a:solidFill>
          <a:srgbClr val="0F1E35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0F1E35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F2A92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A38-4023-98DA-06FECB361807}"/>
              </c:ext>
            </c:extLst>
          </c:dPt>
          <c:dPt>
            <c:idx val="1"/>
            <c:invertIfNegative val="0"/>
            <c:bubble3D val="0"/>
            <c:spPr>
              <a:solidFill>
                <a:srgbClr val="2D9CD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A38-4023-98DA-06FECB361807}"/>
              </c:ext>
            </c:extLst>
          </c:dPt>
          <c:dPt>
            <c:idx val="2"/>
            <c:invertIfNegative val="0"/>
            <c:bubble3D val="0"/>
            <c:spPr>
              <a:solidFill>
                <a:srgbClr val="5E7A9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A38-4023-98DA-06FECB361807}"/>
              </c:ext>
            </c:extLst>
          </c:dPt>
          <c:dPt>
            <c:idx val="3"/>
            <c:invertIfNegative val="0"/>
            <c:bubble3D val="0"/>
            <c:spPr>
              <a:solidFill>
                <a:srgbClr val="5E7A9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A38-4023-98DA-06FECB361807}"/>
              </c:ext>
            </c:extLst>
          </c:dPt>
          <c:dPt>
            <c:idx val="4"/>
            <c:invertIfNegative val="0"/>
            <c:bubble3D val="0"/>
            <c:spPr>
              <a:solidFill>
                <a:srgbClr val="5E7A9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FA38-4023-98DA-06FECB361807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E8F0FE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Irradiance solaire</c:v>
                </c:pt>
                <c:pt idx="1">
                  <c:v>Vent 50m</c:v>
                </c:pt>
                <c:pt idx="2">
                  <c:v>Humidité</c:v>
                </c:pt>
                <c:pt idx="3">
                  <c:v>Densité air</c:v>
                </c:pt>
                <c:pt idx="4">
                  <c:v>Temp.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96.18</c:v>
                </c:pt>
                <c:pt idx="1">
                  <c:v>3.81</c:v>
                </c:pt>
                <c:pt idx="2">
                  <c:v>5.0000000000000001E-3</c:v>
                </c:pt>
                <c:pt idx="3">
                  <c:v>3.0000000000000001E-3</c:v>
                </c:pt>
                <c:pt idx="4">
                  <c:v>3.0000000000000001E-3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FA38-4023-98DA-06FECB36180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E7A99"/>
                </a:solidFill>
                <a:latin typeface="Arial"/>
              </a:defRPr>
            </a:pPr>
            <a:endParaRPr lang="fr-F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A2E4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E7A99"/>
                </a:solidFill>
                <a:latin typeface="Arial"/>
              </a:defRPr>
            </a:pPr>
            <a:endParaRPr lang="fr-FR"/>
          </a:p>
        </c:txPr>
        <c:crossAx val="2094734554"/>
        <c:crosses val="autoZero"/>
        <c:crossBetween val="between"/>
      </c:valAx>
      <c:spPr>
        <a:solidFill>
          <a:srgbClr val="0F1E35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0F1E35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Prédictions IA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6"/>
            <c:spPr>
              <a:solidFill>
                <a:srgbClr val="00C896"/>
              </a:solidFill>
              <a:ln w="9525" cap="flat">
                <a:solidFill>
                  <a:srgbClr val="00C896"/>
                </a:solidFill>
                <a:prstDash val="solid"/>
                <a:round/>
              </a:ln>
              <a:effectLst/>
            </c:spPr>
          </c:marker>
          <c:xVal>
            <c:numRef>
              <c:f>Sheet1!$A$2:$A$19</c:f>
              <c:numCache>
                <c:formatCode>General</c:formatCode>
                <c:ptCount val="18"/>
                <c:pt idx="0">
                  <c:v>0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  <c:pt idx="7">
                  <c:v>35</c:v>
                </c:pt>
                <c:pt idx="8">
                  <c:v>40</c:v>
                </c:pt>
                <c:pt idx="9">
                  <c:v>45</c:v>
                </c:pt>
                <c:pt idx="10">
                  <c:v>50</c:v>
                </c:pt>
                <c:pt idx="11">
                  <c:v>55</c:v>
                </c:pt>
                <c:pt idx="12">
                  <c:v>60</c:v>
                </c:pt>
                <c:pt idx="13">
                  <c:v>65</c:v>
                </c:pt>
                <c:pt idx="14">
                  <c:v>70</c:v>
                </c:pt>
                <c:pt idx="15">
                  <c:v>75</c:v>
                </c:pt>
                <c:pt idx="16">
                  <c:v>80</c:v>
                </c:pt>
                <c:pt idx="17">
                  <c:v>85</c:v>
                </c:pt>
              </c:numCache>
            </c:numRef>
          </c:xVal>
          <c:yVal>
            <c:numRef>
              <c:f>Sheet1!$B$2:$B$19</c:f>
              <c:numCache>
                <c:formatCode>General</c:formatCode>
                <c:ptCount val="18"/>
                <c:pt idx="0">
                  <c:v>0.1</c:v>
                </c:pt>
                <c:pt idx="1">
                  <c:v>4.9000000000000004</c:v>
                </c:pt>
                <c:pt idx="2">
                  <c:v>10.1</c:v>
                </c:pt>
                <c:pt idx="3">
                  <c:v>15.2</c:v>
                </c:pt>
                <c:pt idx="4">
                  <c:v>20</c:v>
                </c:pt>
                <c:pt idx="5">
                  <c:v>24.9</c:v>
                </c:pt>
                <c:pt idx="6">
                  <c:v>30.1</c:v>
                </c:pt>
                <c:pt idx="7">
                  <c:v>35</c:v>
                </c:pt>
                <c:pt idx="8">
                  <c:v>40.200000000000003</c:v>
                </c:pt>
                <c:pt idx="9">
                  <c:v>45.1</c:v>
                </c:pt>
                <c:pt idx="10">
                  <c:v>50</c:v>
                </c:pt>
                <c:pt idx="11">
                  <c:v>55.1</c:v>
                </c:pt>
                <c:pt idx="12">
                  <c:v>60</c:v>
                </c:pt>
                <c:pt idx="13">
                  <c:v>65.2</c:v>
                </c:pt>
                <c:pt idx="14">
                  <c:v>70.099999999999994</c:v>
                </c:pt>
                <c:pt idx="15">
                  <c:v>75</c:v>
                </c:pt>
                <c:pt idx="16">
                  <c:v>80.3</c:v>
                </c:pt>
                <c:pt idx="17">
                  <c:v>84.9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5714-4676-B6A8-B4766941942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Parfait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6"/>
            <c:spPr>
              <a:solidFill>
                <a:srgbClr val="FF0000"/>
              </a:solidFill>
              <a:ln w="9525" cap="flat">
                <a:solidFill>
                  <a:srgbClr val="FF0000"/>
                </a:solidFill>
                <a:prstDash val="solid"/>
                <a:round/>
              </a:ln>
              <a:effectLst/>
            </c:spPr>
          </c:marker>
          <c:xVal>
            <c:numRef>
              <c:f>Sheet1!$A$2:$A$19</c:f>
              <c:numCache>
                <c:formatCode>General</c:formatCode>
                <c:ptCount val="18"/>
                <c:pt idx="0">
                  <c:v>0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  <c:pt idx="7">
                  <c:v>35</c:v>
                </c:pt>
                <c:pt idx="8">
                  <c:v>40</c:v>
                </c:pt>
                <c:pt idx="9">
                  <c:v>45</c:v>
                </c:pt>
                <c:pt idx="10">
                  <c:v>50</c:v>
                </c:pt>
                <c:pt idx="11">
                  <c:v>55</c:v>
                </c:pt>
                <c:pt idx="12">
                  <c:v>60</c:v>
                </c:pt>
                <c:pt idx="13">
                  <c:v>65</c:v>
                </c:pt>
                <c:pt idx="14">
                  <c:v>70</c:v>
                </c:pt>
                <c:pt idx="15">
                  <c:v>75</c:v>
                </c:pt>
                <c:pt idx="16">
                  <c:v>80</c:v>
                </c:pt>
                <c:pt idx="17">
                  <c:v>85</c:v>
                </c:pt>
              </c:numCache>
            </c:numRef>
          </c:xVal>
          <c:yVal>
            <c:numRef>
              <c:f>Sheet1!$C$2:$C$19</c:f>
              <c:numCache>
                <c:formatCode>General</c:formatCode>
                <c:ptCount val="18"/>
                <c:pt idx="0">
                  <c:v>0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  <c:pt idx="7">
                  <c:v>35</c:v>
                </c:pt>
                <c:pt idx="8">
                  <c:v>40</c:v>
                </c:pt>
                <c:pt idx="9">
                  <c:v>45</c:v>
                </c:pt>
                <c:pt idx="10">
                  <c:v>50</c:v>
                </c:pt>
                <c:pt idx="11">
                  <c:v>55</c:v>
                </c:pt>
                <c:pt idx="12">
                  <c:v>60</c:v>
                </c:pt>
                <c:pt idx="13">
                  <c:v>65</c:v>
                </c:pt>
                <c:pt idx="14">
                  <c:v>70</c:v>
                </c:pt>
                <c:pt idx="15">
                  <c:v>75</c:v>
                </c:pt>
                <c:pt idx="16">
                  <c:v>80</c:v>
                </c:pt>
                <c:pt idx="17">
                  <c:v>85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5714-4676-B6A8-B4766941942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E7A99"/>
                </a:solidFill>
                <a:latin typeface="Arial"/>
              </a:defRPr>
            </a:pPr>
            <a:endParaRPr lang="fr-FR"/>
          </a:p>
        </c:txPr>
        <c:crossAx val="2094734552"/>
        <c:crosses val="autoZero"/>
        <c:crossBetween val="midCat"/>
      </c:val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2E48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E7A99"/>
                </a:solidFill>
                <a:latin typeface="Arial"/>
              </a:defRPr>
            </a:pPr>
            <a:endParaRPr lang="fr-FR"/>
          </a:p>
        </c:txPr>
        <c:crossAx val="2094734554"/>
        <c:crosses val="autoZero"/>
        <c:crossBetween val="midCat"/>
      </c:valAx>
      <c:spPr>
        <a:solidFill>
          <a:srgbClr val="0F1E35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5E7A99"/>
              </a:solidFill>
            </a:defRPr>
          </a:pPr>
          <a:endParaRPr lang="fr-FR"/>
        </a:p>
      </c:txPr>
    </c:legend>
    <c:plotVisOnly val="1"/>
    <c:dispBlanksAs val="span"/>
    <c:showDLblsOverMax val="1"/>
  </c:chart>
  <c:spPr>
    <a:solidFill>
      <a:srgbClr val="0F1E35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Cash-flow cumulé (M€)</c:v>
                </c:pt>
              </c:strCache>
            </c:strRef>
          </c:tx>
          <c:spPr>
            <a:ln w="25400" cap="flat">
              <a:solidFill>
                <a:srgbClr val="00C8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C896"/>
              </a:solidFill>
              <a:ln w="9525" cap="flat">
                <a:solidFill>
                  <a:srgbClr val="00C896"/>
                </a:solidFill>
                <a:prstDash val="solid"/>
                <a:round/>
              </a:ln>
              <a:effectLst/>
            </c:spPr>
          </c:marker>
          <c:cat>
            <c:strRef>
              <c:f>Sheet1!$A$2:$A$22</c:f>
              <c:strCache>
                <c:ptCount val="21"/>
                <c:pt idx="0">
                  <c:v>An 0</c:v>
                </c:pt>
                <c:pt idx="1">
                  <c:v>An 1</c:v>
                </c:pt>
                <c:pt idx="2">
                  <c:v>An 2</c:v>
                </c:pt>
                <c:pt idx="3">
                  <c:v>An 3</c:v>
                </c:pt>
                <c:pt idx="4">
                  <c:v>An 4</c:v>
                </c:pt>
                <c:pt idx="5">
                  <c:v>An 5</c:v>
                </c:pt>
                <c:pt idx="6">
                  <c:v>An 6</c:v>
                </c:pt>
                <c:pt idx="7">
                  <c:v>An 7</c:v>
                </c:pt>
                <c:pt idx="8">
                  <c:v>An 8</c:v>
                </c:pt>
                <c:pt idx="9">
                  <c:v>An 9</c:v>
                </c:pt>
                <c:pt idx="10">
                  <c:v>An 10</c:v>
                </c:pt>
                <c:pt idx="11">
                  <c:v>An 11</c:v>
                </c:pt>
                <c:pt idx="12">
                  <c:v>An 12</c:v>
                </c:pt>
                <c:pt idx="13">
                  <c:v>An 13</c:v>
                </c:pt>
                <c:pt idx="14">
                  <c:v>An 14</c:v>
                </c:pt>
                <c:pt idx="15">
                  <c:v>An 15</c:v>
                </c:pt>
                <c:pt idx="16">
                  <c:v>An 16</c:v>
                </c:pt>
                <c:pt idx="17">
                  <c:v>An 17</c:v>
                </c:pt>
                <c:pt idx="18">
                  <c:v>An 18</c:v>
                </c:pt>
                <c:pt idx="19">
                  <c:v>An 19</c:v>
                </c:pt>
                <c:pt idx="20">
                  <c:v>An 20</c:v>
                </c:pt>
              </c:strCache>
            </c: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-2500000</c:v>
                </c:pt>
                <c:pt idx="1">
                  <c:v>-1.85</c:v>
                </c:pt>
                <c:pt idx="2">
                  <c:v>-1.2</c:v>
                </c:pt>
                <c:pt idx="3">
                  <c:v>-0.55000000000000004</c:v>
                </c:pt>
                <c:pt idx="4">
                  <c:v>0.1</c:v>
                </c:pt>
                <c:pt idx="5">
                  <c:v>0.75</c:v>
                </c:pt>
                <c:pt idx="6">
                  <c:v>1.4</c:v>
                </c:pt>
                <c:pt idx="7">
                  <c:v>2.0499999999999998</c:v>
                </c:pt>
                <c:pt idx="8">
                  <c:v>2.7</c:v>
                </c:pt>
                <c:pt idx="9">
                  <c:v>3.35</c:v>
                </c:pt>
                <c:pt idx="10">
                  <c:v>4</c:v>
                </c:pt>
                <c:pt idx="11">
                  <c:v>4.6500000000000004</c:v>
                </c:pt>
                <c:pt idx="12">
                  <c:v>5.3</c:v>
                </c:pt>
                <c:pt idx="13">
                  <c:v>5.95</c:v>
                </c:pt>
                <c:pt idx="14">
                  <c:v>6.6</c:v>
                </c:pt>
                <c:pt idx="15">
                  <c:v>7.25</c:v>
                </c:pt>
                <c:pt idx="16">
                  <c:v>7.9</c:v>
                </c:pt>
                <c:pt idx="17">
                  <c:v>8.5500000000000007</c:v>
                </c:pt>
                <c:pt idx="18">
                  <c:v>9.1999999999999993</c:v>
                </c:pt>
                <c:pt idx="19">
                  <c:v>9.85</c:v>
                </c:pt>
                <c:pt idx="20">
                  <c:v>10.5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59DF-4EBF-BB20-C6549B1B9EC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E7A99"/>
                </a:solidFill>
                <a:latin typeface="Arial"/>
              </a:defRPr>
            </a:pPr>
            <a:endParaRPr lang="fr-F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2E4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E7A99"/>
                </a:solidFill>
                <a:latin typeface="Arial"/>
              </a:defRPr>
            </a:pPr>
            <a:endParaRPr lang="fr-FR"/>
          </a:p>
        </c:txPr>
        <c:crossAx val="2094734554"/>
        <c:crosses val="autoZero"/>
        <c:crossBetween val="between"/>
      </c:valAx>
      <c:spPr>
        <a:solidFill>
          <a:srgbClr val="0F1E35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0F1E35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LCOH</c:v>
                </c:pt>
              </c:strCache>
            </c:strRef>
          </c:tx>
          <c:spPr>
            <a:solidFill>
              <a:srgbClr val="5E7A99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416-4566-9986-C484434EED56}"/>
              </c:ext>
            </c:extLst>
          </c:dPt>
          <c:dPt>
            <c:idx val="1"/>
            <c:invertIfNegative val="0"/>
            <c:bubble3D val="0"/>
            <c:spPr>
              <a:solidFill>
                <a:srgbClr val="8B72E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416-4566-9986-C484434EED56}"/>
              </c:ext>
            </c:extLst>
          </c:dPt>
          <c:dPt>
            <c:idx val="2"/>
            <c:invertIfNegative val="0"/>
            <c:bubble3D val="0"/>
            <c:spPr>
              <a:solidFill>
                <a:srgbClr val="E85D5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416-4566-9986-C484434EED56}"/>
              </c:ext>
            </c:extLst>
          </c:dPt>
          <c:dPt>
            <c:idx val="3"/>
            <c:invertIfNegative val="0"/>
            <c:bubble3D val="0"/>
            <c:spPr>
              <a:solidFill>
                <a:srgbClr val="00C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416-4566-9986-C484434EED5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E8F0FE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H₂ gris (SMR)</c:v>
                </c:pt>
                <c:pt idx="1">
                  <c:v>Benchmark EU 2026</c:v>
                </c:pt>
                <c:pt idx="2">
                  <c:v>VertiGen Classique</c:v>
                </c:pt>
                <c:pt idx="3">
                  <c:v>VertiGen MPC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1.5</c:v>
                </c:pt>
                <c:pt idx="1">
                  <c:v>3.5</c:v>
                </c:pt>
                <c:pt idx="2">
                  <c:v>3.15</c:v>
                </c:pt>
                <c:pt idx="3">
                  <c:v>2.87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416-4566-9986-C484434EED5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E7A99"/>
                </a:solidFill>
                <a:latin typeface="Arial"/>
              </a:defRPr>
            </a:pPr>
            <a:endParaRPr lang="fr-F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A2E4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E7A99"/>
                </a:solidFill>
                <a:latin typeface="Arial"/>
              </a:defRPr>
            </a:pPr>
            <a:endParaRPr lang="fr-FR"/>
          </a:p>
        </c:txPr>
        <c:crossAx val="2094734554"/>
        <c:crosses val="autoZero"/>
        <c:crossBetween val="between"/>
      </c:valAx>
      <c:spPr>
        <a:solidFill>
          <a:srgbClr val="0F1E35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0F1E35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8858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1474470"/>
            <a:ext cx="2194560" cy="2194560"/>
          </a:xfrm>
          <a:prstGeom prst="line">
            <a:avLst/>
          </a:prstGeom>
          <a:solidFill>
            <a:srgbClr val="00C896">
              <a:alpha val="5000"/>
            </a:srgbClr>
          </a:solidFill>
          <a:ln w="3810">
            <a:solidFill>
              <a:srgbClr val="00C896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06640" y="834390"/>
            <a:ext cx="3474720" cy="3474720"/>
          </a:xfrm>
          <a:prstGeom prst="line">
            <a:avLst/>
          </a:prstGeom>
          <a:solidFill>
            <a:srgbClr val="00C896">
              <a:alpha val="10000"/>
            </a:srgbClr>
          </a:solidFill>
          <a:ln w="3810">
            <a:solidFill>
              <a:srgbClr val="00C896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66560" y="194310"/>
            <a:ext cx="4754880" cy="4754880"/>
          </a:xfrm>
          <a:prstGeom prst="line">
            <a:avLst/>
          </a:prstGeom>
          <a:solidFill>
            <a:srgbClr val="00C896">
              <a:alpha val="15000"/>
            </a:srgbClr>
          </a:solidFill>
          <a:ln w="3810">
            <a:solidFill>
              <a:srgbClr val="00C896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26480" y="-445770"/>
            <a:ext cx="6035040" cy="6035040"/>
          </a:xfrm>
          <a:prstGeom prst="line">
            <a:avLst/>
          </a:prstGeom>
          <a:solidFill>
            <a:srgbClr val="00C896">
              <a:alpha val="20000"/>
            </a:srgbClr>
          </a:solidFill>
          <a:ln w="3810">
            <a:solidFill>
              <a:srgbClr val="00C896">
                <a:alpha val="1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411480"/>
            <a:ext cx="1645920" cy="201168"/>
          </a:xfrm>
          <a:prstGeom prst="rect">
            <a:avLst/>
          </a:prstGeom>
          <a:solidFill>
            <a:srgbClr val="00C896">
              <a:alpha val="20000"/>
            </a:srgbClr>
          </a:solidFill>
          <a:ln w="6350">
            <a:solidFill>
              <a:srgbClr val="00C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41148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50" dirty="0">
                <a:solidFill>
                  <a:srgbClr val="00C896"/>
                </a:solidFill>
              </a:rPr>
              <a:t>PROCESSINNVATE 2026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20040" y="777240"/>
            <a:ext cx="5943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VertiGen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320040" y="201168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Hydrogène Vert Intelligent</a:t>
            </a:r>
            <a:endParaRPr lang="en-US" sz="17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Énergies Renouvelables &amp; IA Prédictive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20040" y="2907792"/>
            <a:ext cx="2926080" cy="27432"/>
          </a:xfrm>
          <a:prstGeom prst="rect">
            <a:avLst/>
          </a:prstGeom>
          <a:solidFill>
            <a:srgbClr val="1A2E4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99923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7A99"/>
                </a:solidFill>
              </a:rPr>
              <a:t>Site pilote : Tarfaya, Maroc · 29°N 12°W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" y="324612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A99"/>
                </a:solidFill>
              </a:rPr>
              <a:t>Dataset NASA POWER 2024 · 8 784 heures simulées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4005072"/>
            <a:ext cx="1371600" cy="804672"/>
          </a:xfrm>
          <a:prstGeom prst="rect">
            <a:avLst/>
          </a:prstGeom>
          <a:solidFill>
            <a:srgbClr val="0F1E35"/>
          </a:solidFill>
          <a:ln w="5080">
            <a:solidFill>
              <a:srgbClr val="1A2E48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4005072"/>
            <a:ext cx="1371600" cy="27432"/>
          </a:xfrm>
          <a:prstGeom prst="rect">
            <a:avLst/>
          </a:prstGeom>
          <a:solidFill>
            <a:srgbClr val="00C89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40690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t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320040" y="44531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E7A99"/>
                </a:solidFill>
              </a:rPr>
              <a:t>H₂/an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801368" y="4005072"/>
            <a:ext cx="1371600" cy="804672"/>
          </a:xfrm>
          <a:prstGeom prst="rect">
            <a:avLst/>
          </a:prstGeom>
          <a:solidFill>
            <a:srgbClr val="0F1E35"/>
          </a:solidFill>
          <a:ln w="5080">
            <a:solidFill>
              <a:srgbClr val="1A2E48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801368" y="4005072"/>
            <a:ext cx="1371600" cy="27432"/>
          </a:xfrm>
          <a:prstGeom prst="rect">
            <a:avLst/>
          </a:prstGeom>
          <a:solidFill>
            <a:srgbClr val="00C89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01368" y="40690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2.87 $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801368" y="44531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E7A99"/>
                </a:solidFill>
              </a:rPr>
              <a:t>LCOH/kg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282696" y="4005072"/>
            <a:ext cx="1371600" cy="804672"/>
          </a:xfrm>
          <a:prstGeom prst="rect">
            <a:avLst/>
          </a:prstGeom>
          <a:solidFill>
            <a:srgbClr val="0F1E35"/>
          </a:solidFill>
          <a:ln w="5080">
            <a:solidFill>
              <a:srgbClr val="1A2E48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82696" y="4005072"/>
            <a:ext cx="1371600" cy="27432"/>
          </a:xfrm>
          <a:prstGeom prst="rect">
            <a:avLst/>
          </a:prstGeom>
          <a:solidFill>
            <a:srgbClr val="00C89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82696" y="40690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282696" y="44531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E7A99"/>
                </a:solidFill>
              </a:rPr>
              <a:t>Util. PEM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764024" y="4005072"/>
            <a:ext cx="1371600" cy="804672"/>
          </a:xfrm>
          <a:prstGeom prst="rect">
            <a:avLst/>
          </a:prstGeom>
          <a:solidFill>
            <a:srgbClr val="0F1E35"/>
          </a:solidFill>
          <a:ln w="5080">
            <a:solidFill>
              <a:srgbClr val="1A2E48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64024" y="4005072"/>
            <a:ext cx="1371600" cy="27432"/>
          </a:xfrm>
          <a:prstGeom prst="rect">
            <a:avLst/>
          </a:prstGeom>
          <a:solidFill>
            <a:srgbClr val="00C89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64024" y="40690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2 000 t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4764024" y="44531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E7A99"/>
                </a:solidFill>
              </a:rPr>
              <a:t>CO₂ évité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943600" y="470916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A99"/>
                </a:solidFill>
              </a:rPr>
              <a:t>École Nationale des Sciences Appliquées de Kénitra</a:t>
            </a:r>
            <a:endParaRPr lang="en-US" sz="900" dirty="0"/>
          </a:p>
        </p:txBody>
      </p:sp>
      <p:pic>
        <p:nvPicPr>
          <p:cNvPr id="31" name="Image 0" descr="preencoded.png"/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6583680" y="640080"/>
            <a:ext cx="2011680" cy="2011680"/>
          </a:xfrm>
          <a:prstGeom prst="rect">
            <a:avLst/>
          </a:prstGeom>
        </p:spPr>
      </p:pic>
      <p:sp>
        <p:nvSpPr>
          <p:cNvPr id="32" name="Text 28">
            <a:extLst>
              <a:ext uri="{FF2B5EF4-FFF2-40B4-BE49-F238E27FC236}">
                <a16:creationId xmlns:a16="http://schemas.microsoft.com/office/drawing/2014/main" id="{F5739D0B-E039-4498-7D79-F4246F6DC4A7}"/>
              </a:ext>
            </a:extLst>
          </p:cNvPr>
          <p:cNvSpPr/>
          <p:nvPr/>
        </p:nvSpPr>
        <p:spPr>
          <a:xfrm>
            <a:off x="6295913" y="3095244"/>
            <a:ext cx="2952974" cy="642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E7A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Présenté par :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5E7A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Amadou DIALLO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5E7A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Moulaye Abdoule Hady HAIDARA</a:t>
            </a:r>
          </a:p>
          <a:p>
            <a:pPr marL="0" indent="0">
              <a:buNone/>
            </a:pPr>
            <a:endParaRPr lang="en-US" sz="10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5D5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1645920" cy="201168"/>
          </a:xfrm>
          <a:prstGeom prst="rect">
            <a:avLst/>
          </a:prstGeom>
          <a:solidFill>
            <a:srgbClr val="E85D5D">
              <a:alpha val="20000"/>
            </a:srgbClr>
          </a:solidFill>
          <a:ln w="6350">
            <a:solidFill>
              <a:srgbClr val="E85D5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5603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50" dirty="0">
                <a:solidFill>
                  <a:srgbClr val="E85D5D"/>
                </a:solidFill>
              </a:rPr>
              <a:t>PROBLÉMATIQUE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20040" y="530352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l'hydrogène vert ?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2743200" cy="2468880"/>
          </a:xfrm>
          <a:prstGeom prst="rect">
            <a:avLst/>
          </a:prstGeom>
          <a:solidFill>
            <a:srgbClr val="0F1E35"/>
          </a:solidFill>
          <a:ln w="6350">
            <a:solidFill>
              <a:srgbClr val="1A2E48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71600"/>
            <a:ext cx="45720" cy="2468880"/>
          </a:xfrm>
          <a:prstGeom prst="rect">
            <a:avLst/>
          </a:prstGeom>
          <a:solidFill>
            <a:srgbClr val="E85D5D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72768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84632" y="219456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F0FE"/>
                </a:solidFill>
              </a:rPr>
              <a:t>Urgence climatique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84632" y="256032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5E7A99"/>
                </a:solidFill>
              </a:rPr>
              <a:t>Les énergies fossiles représentent 73% des émissions mondiales de GES. Le secteur industriel seul émet 8,5 Gt CO₂/an.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291840" y="1371600"/>
            <a:ext cx="2743200" cy="2468880"/>
          </a:xfrm>
          <a:prstGeom prst="rect">
            <a:avLst/>
          </a:prstGeom>
          <a:solidFill>
            <a:srgbClr val="0F1E35"/>
          </a:solidFill>
          <a:ln w="6350">
            <a:solidFill>
              <a:srgbClr val="1A2E48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91840" y="1371600"/>
            <a:ext cx="45720" cy="2468880"/>
          </a:xfrm>
          <a:prstGeom prst="rect">
            <a:avLst/>
          </a:prstGeom>
          <a:solidFill>
            <a:srgbClr val="F2A92A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0" y="1572768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56432" y="219456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F0FE"/>
                </a:solidFill>
              </a:rPr>
              <a:t>H₂ gris dominant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456432" y="256032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5E7A99"/>
                </a:solidFill>
              </a:rPr>
              <a:t>98% de l'H₂ mondial produit par vaporeformage de gaz naturel. 10 kg CO₂ émis par kg H₂ produit.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263640" y="1371600"/>
            <a:ext cx="2743200" cy="2468880"/>
          </a:xfrm>
          <a:prstGeom prst="rect">
            <a:avLst/>
          </a:prstGeom>
          <a:solidFill>
            <a:srgbClr val="0F1E35"/>
          </a:solidFill>
          <a:ln w="6350">
            <a:solidFill>
              <a:srgbClr val="1A2E48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263640" y="1371600"/>
            <a:ext cx="45720" cy="2468880"/>
          </a:xfrm>
          <a:prstGeom prst="rect">
            <a:avLst/>
          </a:prstGeom>
          <a:solidFill>
            <a:srgbClr val="00C896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1572768"/>
            <a:ext cx="502920" cy="5029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28232" y="219456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F0FE"/>
                </a:solidFill>
              </a:rPr>
              <a:t>Opportunité Maroc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28232" y="256032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5E7A99"/>
                </a:solidFill>
              </a:rPr>
              <a:t>6,2 kWh/m²/j d'irradiance + vents 9,8 m/s à 80m. Tarfaya = site de classe mondiale pour H₂ vert.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320040" y="4160520"/>
            <a:ext cx="8503920" cy="685800"/>
          </a:xfrm>
          <a:prstGeom prst="rect">
            <a:avLst/>
          </a:prstGeom>
          <a:solidFill>
            <a:srgbClr val="0F1E35"/>
          </a:solidFill>
          <a:ln w="5080">
            <a:solidFill>
              <a:srgbClr val="1A2E48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502920" y="4224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7A99"/>
                </a:solidFill>
              </a:rPr>
              <a:t>La demande mondiale en H₂ vert atteindra  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3794760" y="42245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96"/>
                </a:solidFill>
              </a:rPr>
              <a:t>660 Mt/an d'ici 2050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6309360" y="42245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A99"/>
                </a:solidFill>
              </a:rPr>
              <a:t>- IEA Net Zero 2050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502920" y="45262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7A99"/>
                </a:solidFill>
              </a:rPr>
              <a:t>Le Maroc vise 4% du marché mondial d'export H₂ vert - Plan d'Offre Maroc Vert 2030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1645920" cy="201168"/>
          </a:xfrm>
          <a:prstGeom prst="rect">
            <a:avLst/>
          </a:prstGeom>
          <a:solidFill>
            <a:srgbClr val="00C896">
              <a:alpha val="20000"/>
            </a:srgbClr>
          </a:solidFill>
          <a:ln w="6350">
            <a:solidFill>
              <a:srgbClr val="00C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5603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50" dirty="0">
                <a:solidFill>
                  <a:srgbClr val="00C896"/>
                </a:solidFill>
              </a:rPr>
              <a:t>SOLUTION VERTIGEN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20040" y="530352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système hybride IA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1572768" cy="1691640"/>
          </a:xfrm>
          <a:prstGeom prst="rect">
            <a:avLst/>
          </a:prstGeom>
          <a:solidFill>
            <a:srgbClr val="0F1E35"/>
          </a:solidFill>
          <a:ln w="7620">
            <a:solidFill>
              <a:srgbClr val="F2A92A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490472"/>
            <a:ext cx="475488" cy="4754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9184" y="20756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8F0FE"/>
                </a:solidFill>
              </a:rPr>
              <a:t>Solaire PV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29184" y="236829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2A92A"/>
                </a:solidFill>
              </a:rPr>
              <a:t>300 kW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1847088" y="2130552"/>
            <a:ext cx="182880" cy="36576"/>
          </a:xfrm>
          <a:prstGeom prst="rect">
            <a:avLst/>
          </a:prstGeom>
          <a:solidFill>
            <a:srgbClr val="5E7A9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029968" y="1325880"/>
            <a:ext cx="1572768" cy="1691640"/>
          </a:xfrm>
          <a:prstGeom prst="rect">
            <a:avLst/>
          </a:prstGeom>
          <a:solidFill>
            <a:srgbClr val="0F1E35"/>
          </a:solidFill>
          <a:ln w="7620">
            <a:solidFill>
              <a:srgbClr val="2D9CDB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8608" y="1490472"/>
            <a:ext cx="475488" cy="4754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084832" y="20756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8F0FE"/>
                </a:solidFill>
              </a:rPr>
              <a:t>Éolien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2084832" y="236829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9CDB"/>
                </a:solidFill>
              </a:rPr>
              <a:t>2×100 kW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3602736" y="2130552"/>
            <a:ext cx="182880" cy="36576"/>
          </a:xfrm>
          <a:prstGeom prst="rect">
            <a:avLst/>
          </a:prstGeom>
          <a:solidFill>
            <a:srgbClr val="5E7A9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785616" y="1325880"/>
            <a:ext cx="1572768" cy="1691640"/>
          </a:xfrm>
          <a:prstGeom prst="rect">
            <a:avLst/>
          </a:prstGeom>
          <a:solidFill>
            <a:srgbClr val="0F1E35"/>
          </a:solidFill>
          <a:ln w="7620">
            <a:solidFill>
              <a:srgbClr val="00C896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4256" y="1490472"/>
            <a:ext cx="475488" cy="47548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840480" y="20756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8F0FE"/>
                </a:solidFill>
              </a:rPr>
              <a:t>Électrolyseur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3840480" y="236829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C896"/>
                </a:solidFill>
              </a:rPr>
              <a:t>PEM 500kW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358384" y="2130552"/>
            <a:ext cx="182880" cy="36576"/>
          </a:xfrm>
          <a:prstGeom prst="rect">
            <a:avLst/>
          </a:prstGeom>
          <a:solidFill>
            <a:srgbClr val="5E7A9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541264" y="1325880"/>
            <a:ext cx="1572768" cy="1691640"/>
          </a:xfrm>
          <a:prstGeom prst="rect">
            <a:avLst/>
          </a:prstGeom>
          <a:solidFill>
            <a:srgbClr val="0F1E35"/>
          </a:solidFill>
          <a:ln w="7620">
            <a:solidFill>
              <a:srgbClr val="8B72E5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9904" y="1490472"/>
            <a:ext cx="475488" cy="47548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596128" y="20756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8F0FE"/>
                </a:solidFill>
              </a:rPr>
              <a:t>Stockage H₂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5596128" y="236829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72E5"/>
                </a:solidFill>
              </a:rPr>
              <a:t>2 tonnes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7114032" y="2130552"/>
            <a:ext cx="182880" cy="36576"/>
          </a:xfrm>
          <a:prstGeom prst="rect">
            <a:avLst/>
          </a:prstGeom>
          <a:solidFill>
            <a:srgbClr val="5E7A9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7296912" y="1325880"/>
            <a:ext cx="1572768" cy="1691640"/>
          </a:xfrm>
          <a:prstGeom prst="rect">
            <a:avLst/>
          </a:prstGeom>
          <a:solidFill>
            <a:srgbClr val="0F1E35"/>
          </a:solidFill>
          <a:ln w="7620">
            <a:solidFill>
              <a:srgbClr val="00C896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45552" y="1490472"/>
            <a:ext cx="475488" cy="47548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351776" y="20756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8F0FE"/>
                </a:solidFill>
              </a:rPr>
              <a:t>Distribution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7351776" y="236829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C896"/>
                </a:solidFill>
              </a:rPr>
              <a:t>200 t/an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274320" y="3246120"/>
            <a:ext cx="8595360" cy="1600200"/>
          </a:xfrm>
          <a:prstGeom prst="rect">
            <a:avLst/>
          </a:prstGeom>
          <a:solidFill>
            <a:srgbClr val="0F1E35"/>
          </a:solidFill>
          <a:ln w="7620">
            <a:solidFill>
              <a:srgbClr val="8B72E5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274320" y="3246120"/>
            <a:ext cx="8595360" cy="36576"/>
          </a:xfrm>
          <a:prstGeom prst="rect">
            <a:avLst/>
          </a:prstGeom>
          <a:solidFill>
            <a:srgbClr val="8B72E5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1480" y="3383280"/>
            <a:ext cx="502920" cy="50292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1005840" y="3364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72E5"/>
                </a:solidFill>
              </a:rPr>
              <a:t>Couche IA - Cerveau de VertiGen</a:t>
            </a:r>
            <a:endParaRPr lang="en-US" sz="1300" dirty="0"/>
          </a:p>
        </p:txBody>
      </p:sp>
      <p:sp>
        <p:nvSpPr>
          <p:cNvPr id="34" name="Shape 26"/>
          <p:cNvSpPr/>
          <p:nvPr/>
        </p:nvSpPr>
        <p:spPr>
          <a:xfrm>
            <a:off x="1005840" y="3730752"/>
            <a:ext cx="2468880" cy="960120"/>
          </a:xfrm>
          <a:prstGeom prst="rect">
            <a:avLst/>
          </a:prstGeom>
          <a:solidFill>
            <a:srgbClr val="060D1A"/>
          </a:solidFill>
          <a:ln w="5080">
            <a:solidFill>
              <a:srgbClr val="8B72E5"/>
            </a:solidFill>
            <a:prstDash val="solid"/>
          </a:ln>
        </p:spPr>
      </p:sp>
      <p:sp>
        <p:nvSpPr>
          <p:cNvPr id="35" name="Text 27"/>
          <p:cNvSpPr/>
          <p:nvPr/>
        </p:nvSpPr>
        <p:spPr>
          <a:xfrm>
            <a:off x="1115568" y="3785616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72E5"/>
                </a:solidFill>
              </a:rPr>
              <a:t>① LSTM</a:t>
            </a:r>
            <a:endParaRPr lang="en-US" sz="1100" dirty="0"/>
          </a:p>
        </p:txBody>
      </p:sp>
      <p:sp>
        <p:nvSpPr>
          <p:cNvPr id="36" name="Text 28"/>
          <p:cNvSpPr/>
          <p:nvPr/>
        </p:nvSpPr>
        <p:spPr>
          <a:xfrm>
            <a:off x="1115568" y="4069080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E7A99"/>
                </a:solidFill>
              </a:rPr>
              <a:t>Prévision météo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E7A99"/>
                </a:solidFill>
              </a:rPr>
              <a:t>48h · ±15%</a:t>
            </a:r>
            <a:endParaRPr lang="en-US" sz="950" dirty="0"/>
          </a:p>
        </p:txBody>
      </p:sp>
      <p:sp>
        <p:nvSpPr>
          <p:cNvPr id="37" name="Shape 29"/>
          <p:cNvSpPr/>
          <p:nvPr/>
        </p:nvSpPr>
        <p:spPr>
          <a:xfrm>
            <a:off x="3703320" y="3730752"/>
            <a:ext cx="2468880" cy="960120"/>
          </a:xfrm>
          <a:prstGeom prst="rect">
            <a:avLst/>
          </a:prstGeom>
          <a:solidFill>
            <a:srgbClr val="060D1A"/>
          </a:solidFill>
          <a:ln w="5080">
            <a:solidFill>
              <a:srgbClr val="00C896"/>
            </a:solidFill>
            <a:prstDash val="solid"/>
          </a:ln>
        </p:spPr>
      </p:sp>
      <p:sp>
        <p:nvSpPr>
          <p:cNvPr id="38" name="Text 30"/>
          <p:cNvSpPr/>
          <p:nvPr/>
        </p:nvSpPr>
        <p:spPr>
          <a:xfrm>
            <a:off x="3813048" y="3785616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96"/>
                </a:solidFill>
              </a:rPr>
              <a:t>② MPC</a:t>
            </a:r>
            <a:endParaRPr lang="en-US" sz="1100" dirty="0"/>
          </a:p>
        </p:txBody>
      </p:sp>
      <p:sp>
        <p:nvSpPr>
          <p:cNvPr id="39" name="Text 31"/>
          <p:cNvSpPr/>
          <p:nvPr/>
        </p:nvSpPr>
        <p:spPr>
          <a:xfrm>
            <a:off x="3813048" y="4069080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E7A99"/>
                </a:solidFill>
              </a:rPr>
              <a:t>Dispatch temps réel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E7A99"/>
                </a:solidFill>
              </a:rPr>
              <a:t>Modulation 20→100%</a:t>
            </a:r>
            <a:endParaRPr lang="en-US" sz="950" dirty="0"/>
          </a:p>
        </p:txBody>
      </p:sp>
      <p:sp>
        <p:nvSpPr>
          <p:cNvPr id="40" name="Shape 32"/>
          <p:cNvSpPr/>
          <p:nvPr/>
        </p:nvSpPr>
        <p:spPr>
          <a:xfrm>
            <a:off x="6400800" y="3730752"/>
            <a:ext cx="2468880" cy="960120"/>
          </a:xfrm>
          <a:prstGeom prst="rect">
            <a:avLst/>
          </a:prstGeom>
          <a:solidFill>
            <a:srgbClr val="060D1A"/>
          </a:solidFill>
          <a:ln w="5080">
            <a:solidFill>
              <a:srgbClr val="2D9CDB"/>
            </a:solidFill>
            <a:prstDash val="solid"/>
          </a:ln>
        </p:spPr>
      </p:sp>
      <p:sp>
        <p:nvSpPr>
          <p:cNvPr id="41" name="Text 33"/>
          <p:cNvSpPr/>
          <p:nvPr/>
        </p:nvSpPr>
        <p:spPr>
          <a:xfrm>
            <a:off x="6510528" y="3785616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9CDB"/>
                </a:solidFill>
              </a:rPr>
              <a:t>③ Optimisation convexe</a:t>
            </a:r>
            <a:endParaRPr lang="en-US" sz="1100" dirty="0"/>
          </a:p>
        </p:txBody>
      </p:sp>
      <p:sp>
        <p:nvSpPr>
          <p:cNvPr id="42" name="Text 34"/>
          <p:cNvSpPr/>
          <p:nvPr/>
        </p:nvSpPr>
        <p:spPr>
          <a:xfrm>
            <a:off x="6510528" y="4069080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E7A99"/>
                </a:solidFill>
              </a:rPr>
              <a:t>Minimisation LCOH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E7A99"/>
                </a:solidFill>
              </a:rPr>
              <a:t>−18% coût actualisé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2A9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1645920" cy="201168"/>
          </a:xfrm>
          <a:prstGeom prst="rect">
            <a:avLst/>
          </a:prstGeom>
          <a:solidFill>
            <a:srgbClr val="F2A92A">
              <a:alpha val="20000"/>
            </a:srgbClr>
          </a:solidFill>
          <a:ln w="6350">
            <a:solidFill>
              <a:srgbClr val="F2A9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5603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50" dirty="0">
                <a:solidFill>
                  <a:srgbClr val="F2A92A"/>
                </a:solidFill>
              </a:rPr>
              <a:t>DATASET · SITE PILOTE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20040" y="530352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Tarfaya, Maroc - Données NASA POWER 2024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325880"/>
            <a:ext cx="2926080" cy="749808"/>
          </a:xfrm>
          <a:prstGeom prst="rect">
            <a:avLst/>
          </a:prstGeom>
          <a:solidFill>
            <a:srgbClr val="0F1E35"/>
          </a:solidFill>
          <a:ln w="5080">
            <a:solidFill>
              <a:srgbClr val="1A2E48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25880"/>
            <a:ext cx="45720" cy="749808"/>
          </a:xfrm>
          <a:prstGeom prst="rect">
            <a:avLst/>
          </a:prstGeom>
          <a:solidFill>
            <a:srgbClr val="F2A9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80744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A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 kWh/m²/j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02920" y="1755648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7A99"/>
                </a:solidFill>
              </a:rPr>
              <a:t>Irradiance moyenne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" y="2176272"/>
            <a:ext cx="2926080" cy="749808"/>
          </a:xfrm>
          <a:prstGeom prst="rect">
            <a:avLst/>
          </a:prstGeom>
          <a:solidFill>
            <a:srgbClr val="0F1E35"/>
          </a:solidFill>
          <a:ln w="5080">
            <a:solidFill>
              <a:srgbClr val="1A2E48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176272"/>
            <a:ext cx="45720" cy="749808"/>
          </a:xfrm>
          <a:prstGeom prst="rect">
            <a:avLst/>
          </a:prstGeom>
          <a:solidFill>
            <a:srgbClr val="2D9CD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231136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D9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9.8 m/s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02920" y="2606040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7A99"/>
                </a:solidFill>
              </a:rPr>
              <a:t>Vitesse vent (80m)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3026664"/>
            <a:ext cx="2926080" cy="749808"/>
          </a:xfrm>
          <a:prstGeom prst="rect">
            <a:avLst/>
          </a:prstGeom>
          <a:solidFill>
            <a:srgbClr val="0F1E35"/>
          </a:solidFill>
          <a:ln w="5080">
            <a:solidFill>
              <a:srgbClr val="1A2E48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026664"/>
            <a:ext cx="45720" cy="749808"/>
          </a:xfrm>
          <a:prstGeom prst="rect">
            <a:avLst/>
          </a:prstGeom>
          <a:solidFill>
            <a:srgbClr val="00C89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081528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8 784 h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02920" y="3456432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7A99"/>
                </a:solidFill>
              </a:rPr>
              <a:t>Données simulées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3877056"/>
            <a:ext cx="2926080" cy="749808"/>
          </a:xfrm>
          <a:prstGeom prst="rect">
            <a:avLst/>
          </a:prstGeom>
          <a:solidFill>
            <a:srgbClr val="0F1E35"/>
          </a:solidFill>
          <a:ln w="5080">
            <a:solidFill>
              <a:srgbClr val="1A2E48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877056"/>
            <a:ext cx="45720" cy="749808"/>
          </a:xfrm>
          <a:prstGeom prst="rect">
            <a:avLst/>
          </a:prstGeom>
          <a:solidFill>
            <a:srgbClr val="5E7A9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93192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E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29°N 12°W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02920" y="4306824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7A99"/>
                </a:solidFill>
              </a:rPr>
              <a:t>Coordonnées GPS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429000" y="128016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E7A99"/>
                </a:solidFill>
              </a:rPr>
              <a:t>Production H₂ mensuelle</a:t>
            </a:r>
            <a:endParaRPr lang="en-US" sz="1200" dirty="0"/>
          </a:p>
        </p:txBody>
      </p:sp>
      <p:graphicFrame>
        <p:nvGraphicFramePr>
          <p:cNvPr id="23" name="Chart 0"/>
          <p:cNvGraphicFramePr/>
          <p:nvPr/>
        </p:nvGraphicFramePr>
        <p:xfrm>
          <a:off x="3429000" y="1572768"/>
          <a:ext cx="539496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4" name="Text 21"/>
          <p:cNvSpPr/>
          <p:nvPr/>
        </p:nvSpPr>
        <p:spPr>
          <a:xfrm>
            <a:off x="320040" y="4818888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7A99"/>
                </a:solidFill>
              </a:rPr>
              <a:t>Meilleur mois : Juillet (22.4 t) · Pire : Novembre (10.3 t) · Amplitude saisonnière : ×2.2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72E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1645920" cy="201168"/>
          </a:xfrm>
          <a:prstGeom prst="rect">
            <a:avLst/>
          </a:prstGeom>
          <a:solidFill>
            <a:srgbClr val="8B72E5">
              <a:alpha val="20000"/>
            </a:srgbClr>
          </a:solidFill>
          <a:ln w="6350">
            <a:solidFill>
              <a:srgbClr val="8B72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5603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50" dirty="0">
                <a:solidFill>
                  <a:srgbClr val="8B72E5"/>
                </a:solidFill>
              </a:rPr>
              <a:t>INTELLIGENCE ARTIFICIELLE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20040" y="530352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IA </a:t>
            </a:r>
            <a:r>
              <a:rPr lang="en-US" sz="3400" b="1" dirty="0" err="1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VertiGen</a:t>
            </a:r>
            <a:r>
              <a:rPr lang="en-US" sz="3400" b="1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R² = 0.9999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20040" y="1298448"/>
            <a:ext cx="2011680" cy="1024128"/>
          </a:xfrm>
          <a:prstGeom prst="rect">
            <a:avLst/>
          </a:prstGeom>
          <a:solidFill>
            <a:srgbClr val="0F1E35"/>
          </a:solidFill>
          <a:ln w="6350">
            <a:solidFill>
              <a:srgbClr val="1A2E48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98448"/>
            <a:ext cx="45720" cy="1024128"/>
          </a:xfrm>
          <a:prstGeom prst="rect">
            <a:avLst/>
          </a:prstGeom>
          <a:solidFill>
            <a:srgbClr val="00C89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41732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5E7A99"/>
                </a:solidFill>
              </a:rPr>
              <a:t>PRÉCISION DU MODÈLE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484632" y="1591056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0.9999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84632" y="204825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514600" y="1298448"/>
            <a:ext cx="2011680" cy="1024128"/>
          </a:xfrm>
          <a:prstGeom prst="rect">
            <a:avLst/>
          </a:prstGeom>
          <a:solidFill>
            <a:srgbClr val="0F1E35"/>
          </a:solidFill>
          <a:ln w="6350">
            <a:solidFill>
              <a:srgbClr val="1A2E48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14600" y="1298448"/>
            <a:ext cx="45720" cy="1024128"/>
          </a:xfrm>
          <a:prstGeom prst="rect">
            <a:avLst/>
          </a:prstGeom>
          <a:solidFill>
            <a:srgbClr val="8B72E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79192" y="141732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5E7A99"/>
                </a:solidFill>
              </a:rPr>
              <a:t>ERREUR MOYENNE H₂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2679192" y="1591056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8B72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±0.12 kg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2679192" y="204825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709160" y="1298448"/>
            <a:ext cx="2011680" cy="1024128"/>
          </a:xfrm>
          <a:prstGeom prst="rect">
            <a:avLst/>
          </a:prstGeom>
          <a:solidFill>
            <a:srgbClr val="0F1E35"/>
          </a:solidFill>
          <a:ln w="6350">
            <a:solidFill>
              <a:srgbClr val="1A2E48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1298448"/>
            <a:ext cx="45720" cy="1024128"/>
          </a:xfrm>
          <a:prstGeom prst="rect">
            <a:avLst/>
          </a:prstGeom>
          <a:solidFill>
            <a:srgbClr val="F2A9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73752" y="141732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5E7A99"/>
                </a:solidFill>
              </a:rPr>
              <a:t>POIDS IRRADIANCE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873752" y="1591056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A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96.2%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4873752" y="204825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903720" y="1298448"/>
            <a:ext cx="2011680" cy="1024128"/>
          </a:xfrm>
          <a:prstGeom prst="rect">
            <a:avLst/>
          </a:prstGeom>
          <a:solidFill>
            <a:srgbClr val="0F1E35"/>
          </a:solidFill>
          <a:ln w="6350">
            <a:solidFill>
              <a:srgbClr val="1A2E48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903720" y="1298448"/>
            <a:ext cx="45720" cy="1024128"/>
          </a:xfrm>
          <a:prstGeom prst="rect">
            <a:avLst/>
          </a:prstGeom>
          <a:solidFill>
            <a:srgbClr val="2D9CD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68312" y="141732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5E7A99"/>
                </a:solidFill>
              </a:rPr>
              <a:t>ARBRES RANDOM FOREST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7068312" y="1591056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D9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7068312" y="204825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20040" y="248716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E7A99"/>
                </a:solidFill>
              </a:rPr>
              <a:t>Importance des variables prédictives</a:t>
            </a:r>
            <a:endParaRPr lang="en-US" sz="1200" dirty="0"/>
          </a:p>
        </p:txBody>
      </p:sp>
      <p:graphicFrame>
        <p:nvGraphicFramePr>
          <p:cNvPr id="27" name="Chart 0"/>
          <p:cNvGraphicFramePr/>
          <p:nvPr/>
        </p:nvGraphicFramePr>
        <p:xfrm>
          <a:off x="320040" y="2779776"/>
          <a:ext cx="438912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8" name="Text 25"/>
          <p:cNvSpPr/>
          <p:nvPr/>
        </p:nvSpPr>
        <p:spPr>
          <a:xfrm>
            <a:off x="4983480" y="24871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E7A99"/>
                </a:solidFill>
              </a:rPr>
              <a:t>Prédiction vs Production réelle</a:t>
            </a:r>
            <a:endParaRPr lang="en-US" sz="1200" dirty="0"/>
          </a:p>
        </p:txBody>
      </p:sp>
      <p:graphicFrame>
        <p:nvGraphicFramePr>
          <p:cNvPr id="29" name="Chart 1"/>
          <p:cNvGraphicFramePr/>
          <p:nvPr/>
        </p:nvGraphicFramePr>
        <p:xfrm>
          <a:off x="4983480" y="2779776"/>
          <a:ext cx="393192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1645920" cy="201168"/>
          </a:xfrm>
          <a:prstGeom prst="rect">
            <a:avLst/>
          </a:prstGeom>
          <a:solidFill>
            <a:srgbClr val="00C896">
              <a:alpha val="20000"/>
            </a:srgbClr>
          </a:solidFill>
          <a:ln w="6350">
            <a:solidFill>
              <a:srgbClr val="00C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5603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50" dirty="0">
                <a:solidFill>
                  <a:srgbClr val="00C896"/>
                </a:solidFill>
              </a:rPr>
              <a:t>PERFORMANCES SYSTÈME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20040" y="530352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MPC VertiGen vs Contrôle classique</a:t>
            </a:r>
            <a:endParaRPr lang="en-US" sz="3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6891001"/>
              </p:ext>
            </p:extLst>
          </p:nvPr>
        </p:nvGraphicFramePr>
        <p:xfrm>
          <a:off x="320040" y="1325880"/>
          <a:ext cx="8275320" cy="3328416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8F0FE"/>
                          </a:solidFill>
                        </a:rPr>
                        <a:t>Indicateur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85D5D"/>
                          </a:solidFill>
                        </a:rPr>
                        <a:t>Classique (on/off)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C896"/>
                          </a:solidFill>
                        </a:rPr>
                        <a:t>MPC VertiGen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2A92A"/>
                          </a:solidFill>
                        </a:rPr>
                        <a:t>Gain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Taux utilisation électrolyseur</a:t>
                      </a:r>
                    </a:p>
                  </a:txBody>
                  <a:tcPr>
                    <a:lnL w="6350" cap="flat" cmpd="sng" algn="ctr">
                      <a:solidFill>
                        <a:srgbClr val="1A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85D5D"/>
                          </a:solidFill>
                        </a:rPr>
                        <a:t>45%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C896"/>
                          </a:solidFill>
                        </a:rPr>
                        <a:t>72%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2A92A"/>
                          </a:solidFill>
                        </a:rPr>
                        <a:t>+60%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Cycles on/off annuels</a:t>
                      </a:r>
                    </a:p>
                  </a:txBody>
                  <a:tcPr>
                    <a:lnL w="6350" cap="flat" cmpd="sng" algn="ctr">
                      <a:solidFill>
                        <a:srgbClr val="1A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85D5D"/>
                          </a:solidFill>
                        </a:rPr>
                        <a:t>224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C896"/>
                          </a:solidFill>
                        </a:rPr>
                        <a:t>66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C896"/>
                          </a:solidFill>
                        </a:rPr>
                        <a:t>−71%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Durée de vie membrane PEM</a:t>
                      </a:r>
                    </a:p>
                  </a:txBody>
                  <a:tcPr>
                    <a:lnL w="6350" cap="flat" cmpd="sng" algn="ctr">
                      <a:solidFill>
                        <a:srgbClr val="1A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85D5D"/>
                          </a:solidFill>
                        </a:rPr>
                        <a:t>~60 000 h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C896"/>
                          </a:solidFill>
                        </a:rPr>
                        <a:t>&gt;80 000 h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C896"/>
                          </a:solidFill>
                        </a:rPr>
                        <a:t>+33%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LCOH (coût actualisé H₂)</a:t>
                      </a:r>
                    </a:p>
                  </a:txBody>
                  <a:tcPr>
                    <a:lnL w="6350" cap="flat" cmpd="sng" algn="ctr">
                      <a:solidFill>
                        <a:srgbClr val="1A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85D5D"/>
                          </a:solidFill>
                        </a:rPr>
                        <a:t>3.15 $/kg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C896"/>
                          </a:solidFill>
                        </a:rPr>
                        <a:t>2.87 $/kg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C896"/>
                          </a:solidFill>
                        </a:rPr>
                        <a:t>−9%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Production annuelle H₂</a:t>
                      </a:r>
                    </a:p>
                  </a:txBody>
                  <a:tcPr>
                    <a:lnL w="6350" cap="flat" cmpd="sng" algn="ctr">
                      <a:solidFill>
                        <a:srgbClr val="1A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85D5D"/>
                          </a:solidFill>
                        </a:rPr>
                        <a:t>~180 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C896"/>
                          </a:solidFill>
                        </a:rPr>
                        <a:t>200 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C896"/>
                          </a:solidFill>
                        </a:rPr>
                        <a:t>+11%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Benchmark EU H₂ vert (LCOH)</a:t>
                      </a:r>
                    </a:p>
                  </a:txBody>
                  <a:tcPr>
                    <a:lnL w="6350" cap="flat" cmpd="sng" algn="ctr">
                      <a:solidFill>
                        <a:srgbClr val="1A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E7A99"/>
                          </a:solidFill>
                        </a:rPr>
                        <a:t>3.5–6 $/kg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C896"/>
                          </a:solidFill>
                        </a:rPr>
                        <a:t>2.87 $/kg ✓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C896"/>
                          </a:solidFill>
                        </a:rPr>
                        <a:t>−18 à −52%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A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4"/>
          <p:cNvSpPr/>
          <p:nvPr/>
        </p:nvSpPr>
        <p:spPr>
          <a:xfrm>
            <a:off x="320040" y="4846320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E7A99"/>
                </a:solidFill>
              </a:rPr>
              <a:t>Données simulées sur 8 784 heures (2024) · Site Tarfaya · NASA POWER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2A9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1645920" cy="201168"/>
          </a:xfrm>
          <a:prstGeom prst="rect">
            <a:avLst/>
          </a:prstGeom>
          <a:solidFill>
            <a:srgbClr val="F2A92A">
              <a:alpha val="20000"/>
            </a:srgbClr>
          </a:solidFill>
          <a:ln w="6350">
            <a:solidFill>
              <a:srgbClr val="F2A9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5603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50" dirty="0">
                <a:solidFill>
                  <a:srgbClr val="F2A92A"/>
                </a:solidFill>
              </a:rPr>
              <a:t>ANALYSE ÉCONOMIQUE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20040" y="530352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Viabilité financière sur 20 ans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20040" y="1298448"/>
            <a:ext cx="2011680" cy="1024128"/>
          </a:xfrm>
          <a:prstGeom prst="rect">
            <a:avLst/>
          </a:prstGeom>
          <a:solidFill>
            <a:srgbClr val="0F1E35"/>
          </a:solidFill>
          <a:ln w="6350">
            <a:solidFill>
              <a:srgbClr val="1A2E48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98448"/>
            <a:ext cx="45720" cy="1024128"/>
          </a:xfrm>
          <a:prstGeom prst="rect">
            <a:avLst/>
          </a:prstGeom>
          <a:solidFill>
            <a:srgbClr val="F2A9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41732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5E7A99"/>
                </a:solidFill>
              </a:rPr>
              <a:t>CAPEX TOTAL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484632" y="1591056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A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 M€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84632" y="204825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514600" y="1298448"/>
            <a:ext cx="2011680" cy="1024128"/>
          </a:xfrm>
          <a:prstGeom prst="rect">
            <a:avLst/>
          </a:prstGeom>
          <a:solidFill>
            <a:srgbClr val="0F1E35"/>
          </a:solidFill>
          <a:ln w="6350">
            <a:solidFill>
              <a:srgbClr val="1A2E48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14600" y="1298448"/>
            <a:ext cx="45720" cy="1024128"/>
          </a:xfrm>
          <a:prstGeom prst="rect">
            <a:avLst/>
          </a:prstGeom>
          <a:solidFill>
            <a:srgbClr val="00C89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79192" y="141732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5E7A99"/>
                </a:solidFill>
              </a:rPr>
              <a:t>LCOH MPC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2679192" y="1591056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2.87 $/kg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2679192" y="204825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709160" y="1298448"/>
            <a:ext cx="2011680" cy="1024128"/>
          </a:xfrm>
          <a:prstGeom prst="rect">
            <a:avLst/>
          </a:prstGeom>
          <a:solidFill>
            <a:srgbClr val="0F1E35"/>
          </a:solidFill>
          <a:ln w="6350">
            <a:solidFill>
              <a:srgbClr val="1A2E48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1298448"/>
            <a:ext cx="45720" cy="1024128"/>
          </a:xfrm>
          <a:prstGeom prst="rect">
            <a:avLst/>
          </a:prstGeom>
          <a:solidFill>
            <a:srgbClr val="2D9CD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73752" y="141732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5E7A99"/>
                </a:solidFill>
              </a:rPr>
              <a:t>ROI MÉDIAN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873752" y="1591056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D9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ans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4873752" y="204825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903720" y="1298448"/>
            <a:ext cx="2011680" cy="1024128"/>
          </a:xfrm>
          <a:prstGeom prst="rect">
            <a:avLst/>
          </a:prstGeom>
          <a:solidFill>
            <a:srgbClr val="0F1E35"/>
          </a:solidFill>
          <a:ln w="6350">
            <a:solidFill>
              <a:srgbClr val="1A2E48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903720" y="1298448"/>
            <a:ext cx="45720" cy="1024128"/>
          </a:xfrm>
          <a:prstGeom prst="rect">
            <a:avLst/>
          </a:prstGeom>
          <a:solidFill>
            <a:srgbClr val="00C89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68312" y="141732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5E7A99"/>
                </a:solidFill>
              </a:rPr>
              <a:t>VAN (4$/KG, 20 ANS)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7068312" y="1591056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+4.2 M€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7068312" y="204825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20040" y="248716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E7A99"/>
                </a:solidFill>
              </a:rPr>
              <a:t>Cash-flow cumulé — Scénario médian (4 $/kg H₂)</a:t>
            </a:r>
            <a:endParaRPr lang="en-US" sz="1100" dirty="0"/>
          </a:p>
        </p:txBody>
      </p:sp>
      <p:graphicFrame>
        <p:nvGraphicFramePr>
          <p:cNvPr id="27" name="Chart 0"/>
          <p:cNvGraphicFramePr/>
          <p:nvPr/>
        </p:nvGraphicFramePr>
        <p:xfrm>
          <a:off x="320040" y="2779776"/>
          <a:ext cx="502920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8" name="Text 25"/>
          <p:cNvSpPr/>
          <p:nvPr/>
        </p:nvSpPr>
        <p:spPr>
          <a:xfrm>
            <a:off x="5623560" y="248716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E7A99"/>
                </a:solidFill>
              </a:rPr>
              <a:t>LCOH comparé ($/kg H₂)</a:t>
            </a:r>
            <a:endParaRPr lang="en-US" sz="1100" dirty="0"/>
          </a:p>
        </p:txBody>
      </p:sp>
      <p:graphicFrame>
        <p:nvGraphicFramePr>
          <p:cNvPr id="29" name="Chart 1"/>
          <p:cNvGraphicFramePr/>
          <p:nvPr/>
        </p:nvGraphicFramePr>
        <p:xfrm>
          <a:off x="5623560" y="2779776"/>
          <a:ext cx="329184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1645920" cy="201168"/>
          </a:xfrm>
          <a:prstGeom prst="rect">
            <a:avLst/>
          </a:prstGeom>
          <a:solidFill>
            <a:srgbClr val="00C896">
              <a:alpha val="20000"/>
            </a:srgbClr>
          </a:solidFill>
          <a:ln w="6350">
            <a:solidFill>
              <a:srgbClr val="00C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5603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50" dirty="0">
                <a:solidFill>
                  <a:srgbClr val="00C896"/>
                </a:solidFill>
              </a:rPr>
              <a:t>IMPACT ENVIRONNEMENTAL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20040" y="530352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-2 000 tonnes CO₂ évitées par an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2029968" cy="2286000"/>
          </a:xfrm>
          <a:prstGeom prst="rect">
            <a:avLst/>
          </a:prstGeom>
          <a:solidFill>
            <a:srgbClr val="0F1E35"/>
          </a:solidFill>
          <a:ln w="6350">
            <a:solidFill>
              <a:srgbClr val="1A2E48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17320"/>
            <a:ext cx="45720" cy="22860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" y="1600200"/>
            <a:ext cx="512064" cy="51206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29768" y="2221992"/>
            <a:ext cx="18105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2 000 t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429768" y="2770632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8F0FE"/>
                </a:solidFill>
              </a:rPr>
              <a:t>CO₂ évité/an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29768" y="3044952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5E7A99"/>
                </a:solidFill>
              </a:rPr>
              <a:t>≡ 870 voitures thermiques retirées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532888" y="1417320"/>
            <a:ext cx="2029968" cy="2286000"/>
          </a:xfrm>
          <a:prstGeom prst="rect">
            <a:avLst/>
          </a:prstGeom>
          <a:solidFill>
            <a:srgbClr val="0F1E35"/>
          </a:solidFill>
          <a:ln w="6350">
            <a:solidFill>
              <a:srgbClr val="1A2E48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532888" y="1417320"/>
            <a:ext cx="45720" cy="2286000"/>
          </a:xfrm>
          <a:prstGeom prst="rect">
            <a:avLst/>
          </a:prstGeom>
          <a:solidFill>
            <a:srgbClr val="F2A92A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2696" y="1600200"/>
            <a:ext cx="512064" cy="51206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642616" y="2221992"/>
            <a:ext cx="18105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2A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−85%</a:t>
            </a:r>
            <a:endParaRPr lang="en-US" sz="2600" dirty="0"/>
          </a:p>
        </p:txBody>
      </p:sp>
      <p:sp>
        <p:nvSpPr>
          <p:cNvPr id="16" name="Text 12"/>
          <p:cNvSpPr/>
          <p:nvPr/>
        </p:nvSpPr>
        <p:spPr>
          <a:xfrm>
            <a:off x="2642616" y="2770632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8F0FE"/>
                </a:solidFill>
              </a:rPr>
              <a:t>vs H₂ gris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2642616" y="3044952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5E7A99"/>
                </a:solidFill>
              </a:rPr>
              <a:t>10 kg CO₂/kg H₂ → 1.5 kg CO₂/kg H₂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4745736" y="1417320"/>
            <a:ext cx="2029968" cy="2286000"/>
          </a:xfrm>
          <a:prstGeom prst="rect">
            <a:avLst/>
          </a:prstGeom>
          <a:solidFill>
            <a:srgbClr val="0F1E35"/>
          </a:solidFill>
          <a:ln w="6350">
            <a:solidFill>
              <a:srgbClr val="1A2E48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745736" y="1417320"/>
            <a:ext cx="45720" cy="2286000"/>
          </a:xfrm>
          <a:prstGeom prst="rect">
            <a:avLst/>
          </a:prstGeom>
          <a:solidFill>
            <a:srgbClr val="2D9CDB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95544" y="1600200"/>
            <a:ext cx="512064" cy="51206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855464" y="2221992"/>
            <a:ext cx="18105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D9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10 931</a:t>
            </a:r>
            <a:endParaRPr lang="en-US" sz="2600" dirty="0"/>
          </a:p>
        </p:txBody>
      </p:sp>
      <p:sp>
        <p:nvSpPr>
          <p:cNvPr id="22" name="Text 17"/>
          <p:cNvSpPr/>
          <p:nvPr/>
        </p:nvSpPr>
        <p:spPr>
          <a:xfrm>
            <a:off x="4855464" y="2770632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8F0FE"/>
                </a:solidFill>
              </a:rPr>
              <a:t>MWh EnR/an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4855464" y="3044952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5E7A99"/>
                </a:solidFill>
              </a:rPr>
              <a:t>100% solaire + éolien · 0 fossile</a:t>
            </a:r>
            <a:endParaRPr lang="en-US" sz="850" dirty="0"/>
          </a:p>
        </p:txBody>
      </p:sp>
      <p:sp>
        <p:nvSpPr>
          <p:cNvPr id="24" name="Shape 19"/>
          <p:cNvSpPr/>
          <p:nvPr/>
        </p:nvSpPr>
        <p:spPr>
          <a:xfrm>
            <a:off x="6958584" y="1417320"/>
            <a:ext cx="2029968" cy="2286000"/>
          </a:xfrm>
          <a:prstGeom prst="rect">
            <a:avLst/>
          </a:prstGeom>
          <a:solidFill>
            <a:srgbClr val="0F1E35"/>
          </a:solidFill>
          <a:ln w="6350">
            <a:solidFill>
              <a:srgbClr val="1A2E48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958584" y="1417320"/>
            <a:ext cx="45720" cy="2286000"/>
          </a:xfrm>
          <a:prstGeom prst="rect">
            <a:avLst/>
          </a:prstGeom>
          <a:solidFill>
            <a:srgbClr val="8B72E5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08392" y="1600200"/>
            <a:ext cx="512064" cy="51206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068312" y="2221992"/>
            <a:ext cx="18105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8B72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2600" dirty="0"/>
          </a:p>
        </p:txBody>
      </p:sp>
      <p:sp>
        <p:nvSpPr>
          <p:cNvPr id="28" name="Text 22"/>
          <p:cNvSpPr/>
          <p:nvPr/>
        </p:nvSpPr>
        <p:spPr>
          <a:xfrm>
            <a:off x="7068312" y="2770632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8F0FE"/>
                </a:solidFill>
              </a:rPr>
              <a:t>Eau recyclée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7068312" y="3044952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5E7A99"/>
                </a:solidFill>
              </a:rPr>
              <a:t>Circuit fermé · 1 800 m³/an consommés</a:t>
            </a:r>
            <a:endParaRPr lang="en-US" sz="850" dirty="0"/>
          </a:p>
        </p:txBody>
      </p:sp>
      <p:sp>
        <p:nvSpPr>
          <p:cNvPr id="30" name="Shape 24"/>
          <p:cNvSpPr/>
          <p:nvPr/>
        </p:nvSpPr>
        <p:spPr>
          <a:xfrm>
            <a:off x="320040" y="3977640"/>
            <a:ext cx="8503920" cy="868680"/>
          </a:xfrm>
          <a:prstGeom prst="rect">
            <a:avLst/>
          </a:prstGeom>
          <a:solidFill>
            <a:srgbClr val="0F1E35"/>
          </a:solidFill>
          <a:ln w="5080">
            <a:solidFill>
              <a:srgbClr val="1A2E48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502920" y="404164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E7A99"/>
                </a:solidFill>
              </a:rPr>
              <a:t>Alignement ODD Nations Unies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2743200" y="4059936"/>
            <a:ext cx="1417320" cy="658368"/>
          </a:xfrm>
          <a:prstGeom prst="rect">
            <a:avLst/>
          </a:prstGeom>
          <a:solidFill>
            <a:srgbClr val="060D1A"/>
          </a:solidFill>
          <a:ln w="6350">
            <a:solidFill>
              <a:srgbClr val="F2A92A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2743200" y="409651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A92A"/>
                </a:solidFill>
              </a:rPr>
              <a:t>ODD 7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2743200" y="437083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E7A99"/>
                </a:solidFill>
              </a:rPr>
              <a:t>Énergie propre</a:t>
            </a:r>
            <a:endParaRPr lang="en-US" sz="750" dirty="0"/>
          </a:p>
        </p:txBody>
      </p:sp>
      <p:sp>
        <p:nvSpPr>
          <p:cNvPr id="35" name="Shape 29"/>
          <p:cNvSpPr/>
          <p:nvPr/>
        </p:nvSpPr>
        <p:spPr>
          <a:xfrm>
            <a:off x="4279392" y="4059936"/>
            <a:ext cx="1417320" cy="658368"/>
          </a:xfrm>
          <a:prstGeom prst="rect">
            <a:avLst/>
          </a:prstGeom>
          <a:solidFill>
            <a:srgbClr val="060D1A"/>
          </a:solidFill>
          <a:ln w="6350">
            <a:solidFill>
              <a:srgbClr val="2D9CDB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4279392" y="409651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9CDB"/>
                </a:solidFill>
              </a:rPr>
              <a:t>ODD 9</a:t>
            </a:r>
            <a:endParaRPr lang="en-US" sz="1100" dirty="0"/>
          </a:p>
        </p:txBody>
      </p:sp>
      <p:sp>
        <p:nvSpPr>
          <p:cNvPr id="37" name="Text 31"/>
          <p:cNvSpPr/>
          <p:nvPr/>
        </p:nvSpPr>
        <p:spPr>
          <a:xfrm>
            <a:off x="4279392" y="437083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E7A99"/>
                </a:solidFill>
              </a:rPr>
              <a:t>Innovation industrie</a:t>
            </a:r>
            <a:endParaRPr lang="en-US" sz="750" dirty="0"/>
          </a:p>
        </p:txBody>
      </p:sp>
      <p:sp>
        <p:nvSpPr>
          <p:cNvPr id="38" name="Shape 32"/>
          <p:cNvSpPr/>
          <p:nvPr/>
        </p:nvSpPr>
        <p:spPr>
          <a:xfrm>
            <a:off x="5815584" y="4059936"/>
            <a:ext cx="1417320" cy="658368"/>
          </a:xfrm>
          <a:prstGeom prst="rect">
            <a:avLst/>
          </a:prstGeom>
          <a:solidFill>
            <a:srgbClr val="060D1A"/>
          </a:solidFill>
          <a:ln w="6350">
            <a:solidFill>
              <a:srgbClr val="00C896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5815584" y="409651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896"/>
                </a:solidFill>
              </a:rPr>
              <a:t>ODD 13</a:t>
            </a:r>
            <a:endParaRPr lang="en-US" sz="1100" dirty="0"/>
          </a:p>
        </p:txBody>
      </p:sp>
      <p:sp>
        <p:nvSpPr>
          <p:cNvPr id="40" name="Text 34"/>
          <p:cNvSpPr/>
          <p:nvPr/>
        </p:nvSpPr>
        <p:spPr>
          <a:xfrm>
            <a:off x="5815584" y="437083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E7A99"/>
                </a:solidFill>
              </a:rPr>
              <a:t>Lutte climatique</a:t>
            </a:r>
            <a:endParaRPr lang="en-US" sz="750" dirty="0"/>
          </a:p>
        </p:txBody>
      </p:sp>
      <p:sp>
        <p:nvSpPr>
          <p:cNvPr id="41" name="Shape 35"/>
          <p:cNvSpPr/>
          <p:nvPr/>
        </p:nvSpPr>
        <p:spPr>
          <a:xfrm>
            <a:off x="7351776" y="4059936"/>
            <a:ext cx="1417320" cy="658368"/>
          </a:xfrm>
          <a:prstGeom prst="rect">
            <a:avLst/>
          </a:prstGeom>
          <a:solidFill>
            <a:srgbClr val="060D1A"/>
          </a:solidFill>
          <a:ln w="6350">
            <a:solidFill>
              <a:srgbClr val="8B72E5"/>
            </a:solidFill>
            <a:prstDash val="solid"/>
          </a:ln>
        </p:spPr>
      </p:sp>
      <p:sp>
        <p:nvSpPr>
          <p:cNvPr id="42" name="Text 36"/>
          <p:cNvSpPr/>
          <p:nvPr/>
        </p:nvSpPr>
        <p:spPr>
          <a:xfrm>
            <a:off x="7351776" y="409651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72E5"/>
                </a:solidFill>
              </a:rPr>
              <a:t>ODD 17</a:t>
            </a:r>
            <a:endParaRPr lang="en-US" sz="1100" dirty="0"/>
          </a:p>
        </p:txBody>
      </p:sp>
      <p:sp>
        <p:nvSpPr>
          <p:cNvPr id="43" name="Text 37"/>
          <p:cNvSpPr/>
          <p:nvPr/>
        </p:nvSpPr>
        <p:spPr>
          <a:xfrm>
            <a:off x="7351776" y="437083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E7A99"/>
                </a:solidFill>
              </a:rPr>
              <a:t>Partenariats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D9CD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1645920" cy="201168"/>
          </a:xfrm>
          <a:prstGeom prst="rect">
            <a:avLst/>
          </a:prstGeom>
          <a:solidFill>
            <a:srgbClr val="2D9CDB">
              <a:alpha val="20000"/>
            </a:srgbClr>
          </a:solidFill>
          <a:ln w="6350">
            <a:solidFill>
              <a:srgbClr val="2D9C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5603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50" dirty="0">
                <a:solidFill>
                  <a:srgbClr val="2D9CDB"/>
                </a:solidFill>
              </a:rPr>
              <a:t>ROADMAP INDUSTRIELLE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20040" y="530352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</a:t>
            </a:r>
            <a:r>
              <a:rPr lang="en-US" sz="3400" b="1" dirty="0" err="1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VertiGen</a:t>
            </a:r>
            <a:r>
              <a:rPr lang="en-US" sz="3400" b="1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- 2027 → 2030+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1005840" y="2148840"/>
            <a:ext cx="7132320" cy="36576"/>
          </a:xfrm>
          <a:prstGeom prst="rect">
            <a:avLst/>
          </a:prstGeom>
          <a:solidFill>
            <a:srgbClr val="1A2E4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98448" y="1965960"/>
            <a:ext cx="512064" cy="384048"/>
          </a:xfrm>
          <a:prstGeom prst="line">
            <a:avLst/>
          </a:prstGeom>
          <a:solidFill>
            <a:srgbClr val="00C896"/>
          </a:solidFill>
          <a:ln w="12700">
            <a:solidFill>
              <a:srgbClr val="000000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2542032"/>
            <a:ext cx="2560320" cy="2286000"/>
          </a:xfrm>
          <a:prstGeom prst="rect">
            <a:avLst/>
          </a:prstGeom>
          <a:solidFill>
            <a:srgbClr val="0F1E35"/>
          </a:solidFill>
          <a:ln w="6350">
            <a:solidFill>
              <a:srgbClr val="1A2E48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2542032"/>
            <a:ext cx="45720" cy="22860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5024" y="2633472"/>
            <a:ext cx="438912" cy="43891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7200" y="31272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457200" y="341985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5E7A99"/>
                </a:solidFill>
              </a:rPr>
              <a:t>PILOTE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369417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F0FE"/>
                </a:solidFill>
              </a:rPr>
              <a:t>ONEE Tarfaya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457200" y="39319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kW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57200" y="42062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E7A99"/>
                </a:solidFill>
              </a:rPr>
              <a:t>200 t H₂/an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57200" y="446227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C896"/>
                </a:solidFill>
              </a:rPr>
              <a:t>LCOH : 2.87 $/kg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270248" y="1965960"/>
            <a:ext cx="512064" cy="384048"/>
          </a:xfrm>
          <a:prstGeom prst="line">
            <a:avLst/>
          </a:prstGeom>
          <a:solidFill>
            <a:srgbClr val="2D9CDB"/>
          </a:solidFill>
          <a:ln w="12700">
            <a:solidFill>
              <a:srgbClr val="000000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246120" y="2542032"/>
            <a:ext cx="2560320" cy="2286000"/>
          </a:xfrm>
          <a:prstGeom prst="rect">
            <a:avLst/>
          </a:prstGeom>
          <a:solidFill>
            <a:srgbClr val="0F1E35"/>
          </a:solidFill>
          <a:ln w="6350">
            <a:solidFill>
              <a:srgbClr val="1A2E48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246120" y="2542032"/>
            <a:ext cx="45720" cy="2286000"/>
          </a:xfrm>
          <a:prstGeom prst="rect">
            <a:avLst/>
          </a:prstGeom>
          <a:solidFill>
            <a:srgbClr val="2D9CDB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6824" y="2633472"/>
            <a:ext cx="438912" cy="43891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429000" y="31272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D9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2028/29</a:t>
            </a:r>
            <a:endParaRPr lang="en-US" sz="1800" dirty="0"/>
          </a:p>
        </p:txBody>
      </p:sp>
      <p:sp>
        <p:nvSpPr>
          <p:cNvPr id="22" name="Text 18"/>
          <p:cNvSpPr/>
          <p:nvPr/>
        </p:nvSpPr>
        <p:spPr>
          <a:xfrm>
            <a:off x="3429000" y="341985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5E7A99"/>
                </a:solidFill>
              </a:rPr>
              <a:t>RÉGIONAL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3429000" y="369417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F0FE"/>
                </a:solidFill>
              </a:rPr>
              <a:t>Industrie Maroc Sud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3429000" y="39319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D9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MW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3429000" y="42062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E7A99"/>
                </a:solidFill>
              </a:rPr>
              <a:t>4 000 t H₂/an</a:t>
            </a:r>
            <a:endParaRPr lang="en-US" sz="950" dirty="0"/>
          </a:p>
        </p:txBody>
      </p:sp>
      <p:sp>
        <p:nvSpPr>
          <p:cNvPr id="26" name="Text 22"/>
          <p:cNvSpPr/>
          <p:nvPr/>
        </p:nvSpPr>
        <p:spPr>
          <a:xfrm>
            <a:off x="3429000" y="446227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9CDB"/>
                </a:solidFill>
              </a:rPr>
              <a:t>LCOH : ~2.4 $/kg</a:t>
            </a:r>
            <a:endParaRPr lang="en-US" sz="900" dirty="0"/>
          </a:p>
        </p:txBody>
      </p:sp>
      <p:sp>
        <p:nvSpPr>
          <p:cNvPr id="27" name="Shape 23"/>
          <p:cNvSpPr/>
          <p:nvPr/>
        </p:nvSpPr>
        <p:spPr>
          <a:xfrm>
            <a:off x="7242048" y="1965960"/>
            <a:ext cx="512064" cy="384048"/>
          </a:xfrm>
          <a:prstGeom prst="line">
            <a:avLst/>
          </a:prstGeom>
          <a:solidFill>
            <a:srgbClr val="8B72E5"/>
          </a:solidFill>
          <a:ln w="12700">
            <a:solidFill>
              <a:srgbClr val="000000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6217920" y="2542032"/>
            <a:ext cx="2560320" cy="2286000"/>
          </a:xfrm>
          <a:prstGeom prst="rect">
            <a:avLst/>
          </a:prstGeom>
          <a:solidFill>
            <a:srgbClr val="0F1E35"/>
          </a:solidFill>
          <a:ln w="6350">
            <a:solidFill>
              <a:srgbClr val="1A2E48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6217920" y="2542032"/>
            <a:ext cx="45720" cy="2286000"/>
          </a:xfrm>
          <a:prstGeom prst="rect">
            <a:avLst/>
          </a:prstGeom>
          <a:solidFill>
            <a:srgbClr val="8B72E5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8624" y="2633472"/>
            <a:ext cx="438912" cy="438912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6400800" y="31272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B72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2030+</a:t>
            </a:r>
            <a:endParaRPr lang="en-US" sz="1800" dirty="0"/>
          </a:p>
        </p:txBody>
      </p:sp>
      <p:sp>
        <p:nvSpPr>
          <p:cNvPr id="32" name="Text 27"/>
          <p:cNvSpPr/>
          <p:nvPr/>
        </p:nvSpPr>
        <p:spPr>
          <a:xfrm>
            <a:off x="6400800" y="341985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5E7A99"/>
                </a:solidFill>
              </a:rPr>
              <a:t>NATIONAL</a:t>
            </a:r>
            <a:endParaRPr lang="en-US" sz="1100" dirty="0"/>
          </a:p>
        </p:txBody>
      </p:sp>
      <p:sp>
        <p:nvSpPr>
          <p:cNvPr id="33" name="Text 28"/>
          <p:cNvSpPr/>
          <p:nvPr/>
        </p:nvSpPr>
        <p:spPr>
          <a:xfrm>
            <a:off x="6400800" y="369417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F0FE"/>
                </a:solidFill>
              </a:rPr>
              <a:t>Export vers l'Europe</a:t>
            </a:r>
            <a:endParaRPr lang="en-US" sz="950" dirty="0"/>
          </a:p>
        </p:txBody>
      </p:sp>
      <p:sp>
        <p:nvSpPr>
          <p:cNvPr id="34" name="Text 29"/>
          <p:cNvSpPr/>
          <p:nvPr/>
        </p:nvSpPr>
        <p:spPr>
          <a:xfrm>
            <a:off x="6400800" y="39319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B72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50–100 MW</a:t>
            </a:r>
            <a:endParaRPr lang="en-US" sz="1600" dirty="0"/>
          </a:p>
        </p:txBody>
      </p:sp>
      <p:sp>
        <p:nvSpPr>
          <p:cNvPr id="35" name="Text 30"/>
          <p:cNvSpPr/>
          <p:nvPr/>
        </p:nvSpPr>
        <p:spPr>
          <a:xfrm>
            <a:off x="6400800" y="42062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E7A99"/>
                </a:solidFill>
              </a:rPr>
              <a:t>40 000 t H₂/an</a:t>
            </a:r>
            <a:endParaRPr lang="en-US" sz="950" dirty="0"/>
          </a:p>
        </p:txBody>
      </p:sp>
      <p:sp>
        <p:nvSpPr>
          <p:cNvPr id="36" name="Text 31"/>
          <p:cNvSpPr/>
          <p:nvPr/>
        </p:nvSpPr>
        <p:spPr>
          <a:xfrm>
            <a:off x="6400800" y="446227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72E5"/>
                </a:solidFill>
              </a:rPr>
              <a:t>LCOH : &lt;2 $/kg</a:t>
            </a:r>
            <a:endParaRPr lang="en-US" sz="900" dirty="0"/>
          </a:p>
        </p:txBody>
      </p:sp>
      <p:sp>
        <p:nvSpPr>
          <p:cNvPr id="37" name="Text 32"/>
          <p:cNvSpPr/>
          <p:nvPr/>
        </p:nvSpPr>
        <p:spPr>
          <a:xfrm>
            <a:off x="1005840" y="16002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896"/>
                </a:solidFill>
              </a:rPr>
              <a:t>2027</a:t>
            </a:r>
            <a:endParaRPr lang="en-US" sz="1100" dirty="0"/>
          </a:p>
        </p:txBody>
      </p:sp>
      <p:sp>
        <p:nvSpPr>
          <p:cNvPr id="38" name="Text 33"/>
          <p:cNvSpPr/>
          <p:nvPr/>
        </p:nvSpPr>
        <p:spPr>
          <a:xfrm>
            <a:off x="3977640" y="16002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9CDB"/>
                </a:solidFill>
              </a:rPr>
              <a:t>2028–29</a:t>
            </a:r>
            <a:endParaRPr lang="en-US" sz="1100" dirty="0"/>
          </a:p>
        </p:txBody>
      </p:sp>
      <p:sp>
        <p:nvSpPr>
          <p:cNvPr id="39" name="Text 34"/>
          <p:cNvSpPr/>
          <p:nvPr/>
        </p:nvSpPr>
        <p:spPr>
          <a:xfrm>
            <a:off x="6949440" y="16002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72E5"/>
                </a:solidFill>
              </a:rPr>
              <a:t>2030+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0" y="1840230"/>
            <a:ext cx="1463040" cy="1463040"/>
          </a:xfrm>
          <a:prstGeom prst="line">
            <a:avLst/>
          </a:prstGeom>
          <a:solidFill>
            <a:srgbClr val="00C896">
              <a:alpha val="4000"/>
            </a:srgbClr>
          </a:solidFill>
          <a:ln w="3810">
            <a:solidFill>
              <a:srgbClr val="00C896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17520" y="1017270"/>
            <a:ext cx="3108960" cy="3108960"/>
          </a:xfrm>
          <a:prstGeom prst="line">
            <a:avLst/>
          </a:prstGeom>
          <a:solidFill>
            <a:srgbClr val="00C896">
              <a:alpha val="6000"/>
            </a:srgbClr>
          </a:solidFill>
          <a:ln w="3810">
            <a:solidFill>
              <a:srgbClr val="00C896">
                <a:alpha val="3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194560" y="194310"/>
            <a:ext cx="4754880" cy="4754880"/>
          </a:xfrm>
          <a:prstGeom prst="line">
            <a:avLst/>
          </a:prstGeom>
          <a:solidFill>
            <a:srgbClr val="00C896">
              <a:alpha val="8000"/>
            </a:srgbClr>
          </a:solidFill>
          <a:ln w="3810">
            <a:solidFill>
              <a:srgbClr val="00C896">
                <a:alpha val="2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-628650"/>
            <a:ext cx="6400800" cy="6400800"/>
          </a:xfrm>
          <a:prstGeom prst="line">
            <a:avLst/>
          </a:prstGeom>
          <a:solidFill>
            <a:srgbClr val="00C896">
              <a:alpha val="10000"/>
            </a:srgbClr>
          </a:solidFill>
          <a:ln w="3810">
            <a:solidFill>
              <a:srgbClr val="00C896">
                <a:alpha val="1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-1451610"/>
            <a:ext cx="8046720" cy="8046720"/>
          </a:xfrm>
          <a:prstGeom prst="line">
            <a:avLst/>
          </a:prstGeom>
          <a:solidFill>
            <a:srgbClr val="00C896">
              <a:alpha val="12000"/>
            </a:srgbClr>
          </a:solidFill>
          <a:ln w="3810">
            <a:solidFill>
              <a:srgbClr val="00C896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347472"/>
            <a:ext cx="1645920" cy="201168"/>
          </a:xfrm>
          <a:prstGeom prst="rect">
            <a:avLst/>
          </a:prstGeom>
          <a:solidFill>
            <a:srgbClr val="00C896">
              <a:alpha val="20000"/>
            </a:srgbClr>
          </a:solidFill>
          <a:ln w="6350">
            <a:solidFill>
              <a:srgbClr val="00C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34747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50" dirty="0">
                <a:solidFill>
                  <a:srgbClr val="00C896"/>
                </a:solidFill>
              </a:rPr>
              <a:t>CONCLUSION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320040" y="658368"/>
            <a:ext cx="8503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3400" b="1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VertiGen prouve que l'hydrogène vert</a:t>
            </a:r>
            <a:endParaRPr lang="en-US" sz="3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3400" b="1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 compétitif, aujourd'hui.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320040" y="2057400"/>
            <a:ext cx="2029968" cy="1417320"/>
          </a:xfrm>
          <a:prstGeom prst="rect">
            <a:avLst/>
          </a:prstGeom>
          <a:solidFill>
            <a:srgbClr val="0F1E35"/>
          </a:solidFill>
          <a:ln w="6350">
            <a:solidFill>
              <a:srgbClr val="1A2E48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057400"/>
            <a:ext cx="45720" cy="1417320"/>
          </a:xfrm>
          <a:prstGeom prst="rect">
            <a:avLst/>
          </a:prstGeom>
          <a:solidFill>
            <a:srgbClr val="8B72E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148840"/>
            <a:ext cx="18470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B72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0.9999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11480" y="2633472"/>
            <a:ext cx="1847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950" dirty="0">
                <a:solidFill>
                  <a:srgbClr val="5E7A99"/>
                </a:solidFill>
              </a:rPr>
              <a:t>IA ultra-</a:t>
            </a:r>
            <a:r>
              <a:rPr lang="en-US" sz="950" dirty="0" err="1">
                <a:solidFill>
                  <a:srgbClr val="5E7A99"/>
                </a:solidFill>
              </a:rPr>
              <a:t>précise</a:t>
            </a:r>
            <a:endParaRPr lang="en-US" sz="95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950" dirty="0">
                <a:solidFill>
                  <a:srgbClr val="5E7A99"/>
                </a:solidFill>
              </a:rPr>
              <a:t>sur données réelles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514600" y="2057400"/>
            <a:ext cx="2029968" cy="1417320"/>
          </a:xfrm>
          <a:prstGeom prst="rect">
            <a:avLst/>
          </a:prstGeom>
          <a:solidFill>
            <a:srgbClr val="0F1E35"/>
          </a:solidFill>
          <a:ln w="6350">
            <a:solidFill>
              <a:srgbClr val="1A2E48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514600" y="2057400"/>
            <a:ext cx="45720" cy="14173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06040" y="2148840"/>
            <a:ext cx="18470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t H₂/an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606040" y="2633472"/>
            <a:ext cx="1847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950" dirty="0">
                <a:solidFill>
                  <a:srgbClr val="5E7A99"/>
                </a:solidFill>
              </a:rPr>
              <a:t>Production validée</a:t>
            </a:r>
            <a:endParaRPr lang="en-US" sz="95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950" dirty="0">
                <a:solidFill>
                  <a:srgbClr val="5E7A99"/>
                </a:solidFill>
              </a:rPr>
              <a:t>8 784h simulées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09160" y="2057400"/>
            <a:ext cx="2029968" cy="1417320"/>
          </a:xfrm>
          <a:prstGeom prst="rect">
            <a:avLst/>
          </a:prstGeom>
          <a:solidFill>
            <a:srgbClr val="0F1E35"/>
          </a:solidFill>
          <a:ln w="6350">
            <a:solidFill>
              <a:srgbClr val="1A2E48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057400"/>
            <a:ext cx="45720" cy="1417320"/>
          </a:xfrm>
          <a:prstGeom prst="rect">
            <a:avLst/>
          </a:prstGeom>
          <a:solidFill>
            <a:srgbClr val="2D9CD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2148840"/>
            <a:ext cx="18470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D9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-71% cycles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800600" y="2633472"/>
            <a:ext cx="1847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950" dirty="0">
                <a:solidFill>
                  <a:srgbClr val="5E7A99"/>
                </a:solidFill>
              </a:rPr>
              <a:t>MPC protège</a:t>
            </a:r>
            <a:endParaRPr lang="en-US" sz="95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950" dirty="0">
                <a:solidFill>
                  <a:srgbClr val="5E7A99"/>
                </a:solidFill>
              </a:rPr>
              <a:t>la membrane PEM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903720" y="2057400"/>
            <a:ext cx="2029968" cy="1417320"/>
          </a:xfrm>
          <a:prstGeom prst="rect">
            <a:avLst/>
          </a:prstGeom>
          <a:solidFill>
            <a:srgbClr val="0F1E35"/>
          </a:solidFill>
          <a:ln w="6350">
            <a:solidFill>
              <a:srgbClr val="1A2E48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903720" y="2057400"/>
            <a:ext cx="45720" cy="1417320"/>
          </a:xfrm>
          <a:prstGeom prst="rect">
            <a:avLst/>
          </a:prstGeom>
          <a:solidFill>
            <a:srgbClr val="F2A9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95160" y="2148840"/>
            <a:ext cx="18470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A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2.87 $/kg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995160" y="2633472"/>
            <a:ext cx="1847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950" dirty="0">
                <a:solidFill>
                  <a:srgbClr val="5E7A99"/>
                </a:solidFill>
              </a:rPr>
              <a:t>LCOH compétitif</a:t>
            </a:r>
            <a:endParaRPr lang="en-US" sz="95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950" dirty="0">
                <a:solidFill>
                  <a:srgbClr val="5E7A99"/>
                </a:solidFill>
              </a:rPr>
              <a:t>vs 3.5-6 $/kg EU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0040" y="3675888"/>
            <a:ext cx="8503920" cy="914400"/>
          </a:xfrm>
          <a:prstGeom prst="rect">
            <a:avLst/>
          </a:prstGeom>
          <a:solidFill>
            <a:srgbClr val="0F1E35"/>
          </a:solidFill>
          <a:ln w="6350">
            <a:solidFill>
              <a:srgbClr val="00C896"/>
            </a:solidFill>
            <a:prstDash val="solid"/>
          </a:ln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" y="3675888"/>
            <a:ext cx="8503920" cy="36576"/>
          </a:xfrm>
          <a:prstGeom prst="rect">
            <a:avLst/>
          </a:prstGeom>
          <a:solidFill>
            <a:srgbClr val="00C89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3749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300" i="1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VertiGen n'est pas une vision. C'est une solution opérationnelle,</a:t>
            </a:r>
            <a:endParaRPr lang="en-US" sz="13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300" i="1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validée sur données réelles, prête pour Tarfaya dès 2027. »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02920" y="4407408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 err="1">
                <a:solidFill>
                  <a:srgbClr val="5E7A99"/>
                </a:solidFill>
              </a:rPr>
              <a:t>VertiGen</a:t>
            </a:r>
            <a:r>
              <a:rPr lang="en-US" sz="900" dirty="0">
                <a:solidFill>
                  <a:srgbClr val="5E7A99"/>
                </a:solidFill>
              </a:rPr>
              <a:t> · ProcessInnovate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786</Words>
  <Application>Microsoft Office PowerPoint</Application>
  <PresentationFormat>Affichage à l'écran (16:9)</PresentationFormat>
  <Paragraphs>193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Times New Roman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VertiGen — ProcessInnovate 2026</dc:title>
  <dc:subject>PptxGenJS Presentation</dc:subject>
  <dc:creator>EMI — École Mohammadia d'Ingénieurs</dc:creator>
  <cp:lastModifiedBy>H P</cp:lastModifiedBy>
  <cp:revision>6</cp:revision>
  <dcterms:created xsi:type="dcterms:W3CDTF">2026-05-07T18:40:24Z</dcterms:created>
  <dcterms:modified xsi:type="dcterms:W3CDTF">2026-05-08T17:23:42Z</dcterms:modified>
</cp:coreProperties>
</file>